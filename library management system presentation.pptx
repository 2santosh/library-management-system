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37" autoAdjust="0"/>
  </p:normalViewPr>
  <p:slideViewPr>
    <p:cSldViewPr snapToGrid="0">
      <p:cViewPr varScale="1">
        <p:scale>
          <a:sx n="63" d="100"/>
          <a:sy n="63" d="100"/>
        </p:scale>
        <p:origin x="7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DB027-5B76-48C8-A5E8-F3F0458DF7B8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FE691-476B-46DF-A38A-DC9F6810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31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FE691-476B-46DF-A38A-DC9F68103F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71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FE691-476B-46DF-A38A-DC9F68103F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07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4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4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4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2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2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6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8000"/>
                    </a14:imgEffect>
                  </a14:imgLayer>
                </a14:imgProps>
              </a:ext>
            </a:extLst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15B1F-6023-4536-9FB3-ECAD21BE58A6}" type="datetimeFigureOut">
              <a:rPr lang="en-US" smtClean="0"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E0534-390A-438E-9544-BE9F58AC3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57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aBKamal/bitprojecti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91DDFB-0F84-4D28-AC05-CAC7EC3F1E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t="3114" r="1164" b="313"/>
          <a:stretch/>
        </p:blipFill>
        <p:spPr>
          <a:xfrm>
            <a:off x="0" y="-57078"/>
            <a:ext cx="12192000" cy="691507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224260-D64F-4651-8AE0-67C77C760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421619"/>
              </p:ext>
            </p:extLst>
          </p:nvPr>
        </p:nvGraphicFramePr>
        <p:xfrm>
          <a:off x="1189348" y="515486"/>
          <a:ext cx="8755381" cy="1310640"/>
        </p:xfrm>
        <a:graphic>
          <a:graphicData uri="http://schemas.openxmlformats.org/drawingml/2006/table">
            <a:tbl>
              <a:tblPr/>
              <a:tblGrid>
                <a:gridCol w="8755381">
                  <a:extLst>
                    <a:ext uri="{9D8B030D-6E8A-4147-A177-3AD203B41FA5}">
                      <a16:colId xmlns:a16="http://schemas.microsoft.com/office/drawing/2014/main" val="2369331076"/>
                    </a:ext>
                  </a:extLst>
                </a:gridCol>
              </a:tblGrid>
              <a:tr h="1100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MANAGEMENT SYSTEM</a:t>
                      </a:r>
                    </a:p>
                    <a:p>
                      <a:endParaRPr lang="en-US" sz="4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2458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6A0764-D948-4E2C-817D-20544DAF0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690502"/>
              </p:ext>
            </p:extLst>
          </p:nvPr>
        </p:nvGraphicFramePr>
        <p:xfrm>
          <a:off x="738633" y="4481933"/>
          <a:ext cx="2418463" cy="1860581"/>
        </p:xfrm>
        <a:graphic>
          <a:graphicData uri="http://schemas.openxmlformats.org/drawingml/2006/table">
            <a:tbl>
              <a:tblPr/>
              <a:tblGrid>
                <a:gridCol w="2418463">
                  <a:extLst>
                    <a:ext uri="{9D8B030D-6E8A-4147-A177-3AD203B41FA5}">
                      <a16:colId xmlns:a16="http://schemas.microsoft.com/office/drawing/2014/main" val="3236746307"/>
                    </a:ext>
                  </a:extLst>
                </a:gridCol>
              </a:tblGrid>
              <a:tr h="1860581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By:</a:t>
                      </a:r>
                    </a:p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Santosh Adhikari</a:t>
                      </a:r>
                    </a:p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Bikesh Khyaju</a:t>
                      </a:r>
                    </a:p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Sujan Subedi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513417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713B90D-2C85-466B-BAFB-B414E8862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324473"/>
              </p:ext>
            </p:extLst>
          </p:nvPr>
        </p:nvGraphicFramePr>
        <p:xfrm>
          <a:off x="6503498" y="4481933"/>
          <a:ext cx="5062816" cy="1920240"/>
        </p:xfrm>
        <a:graphic>
          <a:graphicData uri="http://schemas.openxmlformats.org/drawingml/2006/table">
            <a:tbl>
              <a:tblPr/>
              <a:tblGrid>
                <a:gridCol w="5062816">
                  <a:extLst>
                    <a:ext uri="{9D8B030D-6E8A-4147-A177-3AD203B41FA5}">
                      <a16:colId xmlns:a16="http://schemas.microsoft.com/office/drawing/2014/main" val="2655832431"/>
                    </a:ext>
                  </a:extLst>
                </a:gridCol>
              </a:tblGrid>
              <a:tr h="1746258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Batch:  2020</a:t>
                      </a:r>
                    </a:p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Faculty: Science and technology</a:t>
                      </a:r>
                    </a:p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Program: Bachelor of </a:t>
                      </a: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technology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6926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88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32714B-5DC6-4043-93AD-EBB24D006A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4103" r="1563"/>
          <a:stretch/>
        </p:blipFill>
        <p:spPr>
          <a:xfrm>
            <a:off x="0" y="-52252"/>
            <a:ext cx="12192000" cy="691025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48D94A-0803-404A-95AC-0DD42D350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301239"/>
              </p:ext>
            </p:extLst>
          </p:nvPr>
        </p:nvGraphicFramePr>
        <p:xfrm>
          <a:off x="7028177" y="1052268"/>
          <a:ext cx="2835372" cy="1188720"/>
        </p:xfrm>
        <a:graphic>
          <a:graphicData uri="http://schemas.openxmlformats.org/drawingml/2006/table">
            <a:tbl>
              <a:tblPr/>
              <a:tblGrid>
                <a:gridCol w="2835372">
                  <a:extLst>
                    <a:ext uri="{9D8B030D-6E8A-4147-A177-3AD203B41FA5}">
                      <a16:colId xmlns:a16="http://schemas.microsoft.com/office/drawing/2014/main" val="2574772344"/>
                    </a:ext>
                  </a:extLst>
                </a:gridCol>
              </a:tblGrid>
              <a:tr h="11633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</a:t>
                      </a:r>
                    </a:p>
                    <a:p>
                      <a:endParaRPr lang="en-US" sz="3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706510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C0A99A2-EA8F-4850-92AE-53EFDAFC2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49097"/>
              </p:ext>
            </p:extLst>
          </p:nvPr>
        </p:nvGraphicFramePr>
        <p:xfrm>
          <a:off x="6888838" y="1919446"/>
          <a:ext cx="4085051" cy="3291926"/>
        </p:xfrm>
        <a:graphic>
          <a:graphicData uri="http://schemas.openxmlformats.org/drawingml/2006/table">
            <a:tbl>
              <a:tblPr/>
              <a:tblGrid>
                <a:gridCol w="4085051">
                  <a:extLst>
                    <a:ext uri="{9D8B030D-6E8A-4147-A177-3AD203B41FA5}">
                      <a16:colId xmlns:a16="http://schemas.microsoft.com/office/drawing/2014/main" val="3139513198"/>
                    </a:ext>
                  </a:extLst>
                </a:gridCol>
              </a:tblGrid>
              <a:tr h="32919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Goals And Objectives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Gantt Chart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375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16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ACAFDB-3F74-4E7C-83A9-A83F1BC2EC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311" r="1375"/>
          <a:stretch/>
        </p:blipFill>
        <p:spPr>
          <a:xfrm>
            <a:off x="0" y="0"/>
            <a:ext cx="12192000" cy="700591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5EC79C-AD13-48E8-9BCC-167886371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5152"/>
              </p:ext>
            </p:extLst>
          </p:nvPr>
        </p:nvGraphicFramePr>
        <p:xfrm>
          <a:off x="5311138" y="203723"/>
          <a:ext cx="5882640" cy="731520"/>
        </p:xfrm>
        <a:graphic>
          <a:graphicData uri="http://schemas.openxmlformats.org/drawingml/2006/table">
            <a:tbl>
              <a:tblPr/>
              <a:tblGrid>
                <a:gridCol w="5882640">
                  <a:extLst>
                    <a:ext uri="{9D8B030D-6E8A-4147-A177-3AD203B41FA5}">
                      <a16:colId xmlns:a16="http://schemas.microsoft.com/office/drawing/2014/main" val="74490822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43752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0F61AE-22E4-4F88-8B72-7980E5258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793387"/>
              </p:ext>
            </p:extLst>
          </p:nvPr>
        </p:nvGraphicFramePr>
        <p:xfrm>
          <a:off x="5043990" y="1114089"/>
          <a:ext cx="6736977" cy="5882640"/>
        </p:xfrm>
        <a:graphic>
          <a:graphicData uri="http://schemas.openxmlformats.org/drawingml/2006/table">
            <a:tbl>
              <a:tblPr/>
              <a:tblGrid>
                <a:gridCol w="6736977">
                  <a:extLst>
                    <a:ext uri="{9D8B030D-6E8A-4147-A177-3AD203B41FA5}">
                      <a16:colId xmlns:a16="http://schemas.microsoft.com/office/drawing/2014/main" val="3104992270"/>
                    </a:ext>
                  </a:extLst>
                </a:gridCol>
              </a:tblGrid>
              <a:tr h="4089442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Library Management system is also developed with same concept of making Library management much faster and easier.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Library Management System is software built to handle the primary housekeeping functions of a library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Library management systems help libraries keep track of the books and there details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students, staffs and books are all related terms of the libraries, there should be proper way of management in Library Management system.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records of the students, books and staffs should be kept and should be known to the authorized people only.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1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FD564-B281-4BCE-9DDB-42FE0F2BC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305" r="1287"/>
          <a:stretch/>
        </p:blipFill>
        <p:spPr>
          <a:xfrm>
            <a:off x="0" y="-13447"/>
            <a:ext cx="12192000" cy="687144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4F0672-D4B6-4904-A71C-53AC672A9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72385"/>
              </p:ext>
            </p:extLst>
          </p:nvPr>
        </p:nvGraphicFramePr>
        <p:xfrm>
          <a:off x="6002576" y="1666283"/>
          <a:ext cx="4935071" cy="1290918"/>
        </p:xfrm>
        <a:graphic>
          <a:graphicData uri="http://schemas.openxmlformats.org/drawingml/2006/table">
            <a:tbl>
              <a:tblPr/>
              <a:tblGrid>
                <a:gridCol w="4935071">
                  <a:extLst>
                    <a:ext uri="{9D8B030D-6E8A-4147-A177-3AD203B41FA5}">
                      <a16:colId xmlns:a16="http://schemas.microsoft.com/office/drawing/2014/main" val="4137028678"/>
                    </a:ext>
                  </a:extLst>
                </a:gridCol>
              </a:tblGrid>
              <a:tr h="1290918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87021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A74605-6340-44E9-938B-6A7D93590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80016"/>
              </p:ext>
            </p:extLst>
          </p:nvPr>
        </p:nvGraphicFramePr>
        <p:xfrm>
          <a:off x="5876582" y="2460140"/>
          <a:ext cx="5570675" cy="4855733"/>
        </p:xfrm>
        <a:graphic>
          <a:graphicData uri="http://schemas.openxmlformats.org/drawingml/2006/table">
            <a:tbl>
              <a:tblPr/>
              <a:tblGrid>
                <a:gridCol w="5570675">
                  <a:extLst>
                    <a:ext uri="{9D8B030D-6E8A-4147-A177-3AD203B41FA5}">
                      <a16:colId xmlns:a16="http://schemas.microsoft.com/office/drawing/2014/main" val="277476318"/>
                    </a:ext>
                  </a:extLst>
                </a:gridCol>
              </a:tblGrid>
              <a:tr h="485573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Valuable time wasted from inconvenient and less efficient ways of recording.</a:t>
                      </a:r>
                    </a:p>
                    <a:p>
                      <a:pPr marL="0" marR="0" lvl="0" indent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None/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Paper is used for recording books add students’ information.</a:t>
                      </a:r>
                    </a:p>
                    <a:p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6672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2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CF287A-447F-4722-AF3C-63D7CF58E5A6}"/>
              </a:ext>
            </a:extLst>
          </p:cNvPr>
          <p:cNvSpPr txBox="1"/>
          <p:nvPr/>
        </p:nvSpPr>
        <p:spPr>
          <a:xfrm>
            <a:off x="3046095" y="3244334"/>
            <a:ext cx="609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F9D1AC-464F-4EA9-B348-9AADA6C7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" y="0"/>
            <a:ext cx="12170365" cy="68580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4FFFAC-890A-4BEF-B76D-2E9B3E905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71626"/>
              </p:ext>
            </p:extLst>
          </p:nvPr>
        </p:nvGraphicFramePr>
        <p:xfrm>
          <a:off x="5271770" y="2371633"/>
          <a:ext cx="8850630" cy="4582160"/>
        </p:xfrm>
        <a:graphic>
          <a:graphicData uri="http://schemas.openxmlformats.org/drawingml/2006/table">
            <a:tbl>
              <a:tblPr/>
              <a:tblGrid>
                <a:gridCol w="8850630">
                  <a:extLst>
                    <a:ext uri="{9D8B030D-6E8A-4147-A177-3AD203B41FA5}">
                      <a16:colId xmlns:a16="http://schemas.microsoft.com/office/drawing/2014/main" val="3251545426"/>
                    </a:ext>
                  </a:extLst>
                </a:gridCol>
              </a:tblGrid>
              <a:tr h="3801292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friendly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U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 can do his operations comfortably. </a:t>
                      </a:r>
                    </a:p>
                    <a:p>
                      <a:pPr marL="0" indent="0">
                        <a:buNone/>
                      </a:pP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 Time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Faster performance.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U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 can easily access the stored data edit them for further use.</a:t>
                      </a:r>
                    </a:p>
                    <a:p>
                      <a:pPr marL="0" indent="0">
                        <a:buNone/>
                      </a:pP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use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U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 can use the system easily without confusion.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Calibri" panose="020F0502020204030204" pitchFamily="34" charset="0"/>
                          <a:cs typeface="Times New Roman" pitchFamily="18" charset="0"/>
                        </a:rPr>
                        <a:t>	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77286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A5B4D21-B9F9-413E-A853-3B8651246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88458"/>
              </p:ext>
            </p:extLst>
          </p:nvPr>
        </p:nvGraphicFramePr>
        <p:xfrm>
          <a:off x="5271770" y="1457231"/>
          <a:ext cx="4654731" cy="957943"/>
        </p:xfrm>
        <a:graphic>
          <a:graphicData uri="http://schemas.openxmlformats.org/drawingml/2006/table">
            <a:tbl>
              <a:tblPr/>
              <a:tblGrid>
                <a:gridCol w="4654731">
                  <a:extLst>
                    <a:ext uri="{9D8B030D-6E8A-4147-A177-3AD203B41FA5}">
                      <a16:colId xmlns:a16="http://schemas.microsoft.com/office/drawing/2014/main" val="352425264"/>
                    </a:ext>
                  </a:extLst>
                </a:gridCol>
              </a:tblGrid>
              <a:tr h="957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GOALS AND OBJECTIVE</a:t>
                      </a:r>
                    </a:p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08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90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92E9D2-68B3-4C3F-8581-9C13C8C44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8CD38D-92BD-4BBD-A378-3B9AC2A74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587082"/>
              </p:ext>
            </p:extLst>
          </p:nvPr>
        </p:nvGraphicFramePr>
        <p:xfrm>
          <a:off x="5316583" y="1391194"/>
          <a:ext cx="6505303" cy="4206240"/>
        </p:xfrm>
        <a:graphic>
          <a:graphicData uri="http://schemas.openxmlformats.org/drawingml/2006/table">
            <a:tbl>
              <a:tblPr/>
              <a:tblGrid>
                <a:gridCol w="6505303">
                  <a:extLst>
                    <a:ext uri="{9D8B030D-6E8A-4147-A177-3AD203B41FA5}">
                      <a16:colId xmlns:a16="http://schemas.microsoft.com/office/drawing/2014/main" val="3212050320"/>
                    </a:ext>
                  </a:extLst>
                </a:gridCol>
              </a:tblGrid>
              <a:tr h="327877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was the first project in c. So, many mistakes were experienced.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Lots of bugs were found and debugging took longer time.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technical knowledge to do systematic programming. As the number of codes increased coding becomes difficult and more challenging.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Interaction between the team members  because of the pandemic and lockdown.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3290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673EBB-A527-49E4-96A2-66EAFBD2E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281118"/>
              </p:ext>
            </p:extLst>
          </p:nvPr>
        </p:nvGraphicFramePr>
        <p:xfrm>
          <a:off x="6096000" y="744583"/>
          <a:ext cx="4924697" cy="914400"/>
        </p:xfrm>
        <a:graphic>
          <a:graphicData uri="http://schemas.openxmlformats.org/drawingml/2006/table">
            <a:tbl>
              <a:tblPr/>
              <a:tblGrid>
                <a:gridCol w="4924697">
                  <a:extLst>
                    <a:ext uri="{9D8B030D-6E8A-4147-A177-3AD203B41FA5}">
                      <a16:colId xmlns:a16="http://schemas.microsoft.com/office/drawing/2014/main" val="405531789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r>
                        <a:rPr lang="en-US" sz="3600" dirty="0"/>
                        <a:t> faced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2404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88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041D12-CA55-4F4D-B861-187545FC9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663" r="1621"/>
          <a:stretch/>
        </p:blipFill>
        <p:spPr>
          <a:xfrm>
            <a:off x="-22860" y="1"/>
            <a:ext cx="12192000" cy="6858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79D462-8C59-4767-BF87-F7AB35440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087535"/>
              </p:ext>
            </p:extLst>
          </p:nvPr>
        </p:nvGraphicFramePr>
        <p:xfrm>
          <a:off x="5875020" y="1428750"/>
          <a:ext cx="3939540" cy="1028698"/>
        </p:xfrm>
        <a:graphic>
          <a:graphicData uri="http://schemas.openxmlformats.org/drawingml/2006/table">
            <a:tbl>
              <a:tblPr/>
              <a:tblGrid>
                <a:gridCol w="3939540">
                  <a:extLst>
                    <a:ext uri="{9D8B030D-6E8A-4147-A177-3AD203B41FA5}">
                      <a16:colId xmlns:a16="http://schemas.microsoft.com/office/drawing/2014/main" val="3024752071"/>
                    </a:ext>
                  </a:extLst>
                </a:gridCol>
              </a:tblGrid>
              <a:tr h="1028698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05282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8D0200-DF71-414E-8971-248C429EF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64258"/>
              </p:ext>
            </p:extLst>
          </p:nvPr>
        </p:nvGraphicFramePr>
        <p:xfrm>
          <a:off x="5646420" y="2377440"/>
          <a:ext cx="6545580" cy="4046220"/>
        </p:xfrm>
        <a:graphic>
          <a:graphicData uri="http://schemas.openxmlformats.org/drawingml/2006/table">
            <a:tbl>
              <a:tblPr/>
              <a:tblGrid>
                <a:gridCol w="6545580">
                  <a:extLst>
                    <a:ext uri="{9D8B030D-6E8A-4147-A177-3AD203B41FA5}">
                      <a16:colId xmlns:a16="http://schemas.microsoft.com/office/drawing/2014/main" val="2029909371"/>
                    </a:ext>
                  </a:extLst>
                </a:gridCol>
              </a:tblGrid>
              <a:tr h="404622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Some of the ideas were not kept due to lack of skills and bugs.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Some of the features have some issues in displaying information.</a:t>
                      </a:r>
                    </a:p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7526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0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BFCAB-24E6-4754-8E02-5DBC181DB9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2977"/>
          <a:stretch/>
        </p:blipFill>
        <p:spPr>
          <a:xfrm>
            <a:off x="0" y="0"/>
            <a:ext cx="12192000" cy="6856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304DE4-58F9-4EDC-995B-09363B11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65" y="523167"/>
            <a:ext cx="10766469" cy="58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0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0D9D425-5919-4BD1-9430-36160B5D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CECA288-02B5-4747-B8DB-39127FB06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43120"/>
              </p:ext>
            </p:extLst>
          </p:nvPr>
        </p:nvGraphicFramePr>
        <p:xfrm>
          <a:off x="242050" y="973185"/>
          <a:ext cx="4013370" cy="1066800"/>
        </p:xfrm>
        <a:graphic>
          <a:graphicData uri="http://schemas.openxmlformats.org/drawingml/2006/table">
            <a:tbl>
              <a:tblPr/>
              <a:tblGrid>
                <a:gridCol w="4013370">
                  <a:extLst>
                    <a:ext uri="{9D8B030D-6E8A-4147-A177-3AD203B41FA5}">
                      <a16:colId xmlns:a16="http://schemas.microsoft.com/office/drawing/2014/main" val="879933325"/>
                    </a:ext>
                  </a:extLst>
                </a:gridCol>
              </a:tblGrid>
              <a:tr h="499073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USED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2016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526A66C-768B-4C23-8547-A576241E1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003676"/>
              </p:ext>
            </p:extLst>
          </p:nvPr>
        </p:nvGraphicFramePr>
        <p:xfrm>
          <a:off x="6338050" y="1869140"/>
          <a:ext cx="5537619" cy="4195482"/>
        </p:xfrm>
        <a:graphic>
          <a:graphicData uri="http://schemas.openxmlformats.org/drawingml/2006/table">
            <a:tbl>
              <a:tblPr/>
              <a:tblGrid>
                <a:gridCol w="1262698">
                  <a:extLst>
                    <a:ext uri="{9D8B030D-6E8A-4147-A177-3AD203B41FA5}">
                      <a16:colId xmlns:a16="http://schemas.microsoft.com/office/drawing/2014/main" val="3138389103"/>
                    </a:ext>
                  </a:extLst>
                </a:gridCol>
                <a:gridCol w="4274921">
                  <a:extLst>
                    <a:ext uri="{9D8B030D-6E8A-4147-A177-3AD203B41FA5}">
                      <a16:colId xmlns:a16="http://schemas.microsoft.com/office/drawing/2014/main" val="2112384506"/>
                    </a:ext>
                  </a:extLst>
                </a:gridCol>
              </a:tblGrid>
              <a:tr h="360731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Header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 file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Description</a:t>
                      </a:r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019804"/>
                  </a:ext>
                </a:extLst>
              </a:tr>
              <a:tr h="752068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main()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Welcome screen is shown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873445"/>
                  </a:ext>
                </a:extLst>
              </a:tr>
              <a:tr h="753708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ch_menu()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4 choice is shown in the screen for admin, student, book, exit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78195"/>
                  </a:ext>
                </a:extLst>
              </a:tr>
              <a:tr h="753708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admin_login()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student_login()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Login screen ask for username and password.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184148"/>
                  </a:ext>
                </a:extLst>
              </a:tr>
              <a:tr h="514427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ad_main()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Admin panel first screen to choose an option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568225"/>
                  </a:ext>
                </a:extLst>
              </a:tr>
              <a:tr h="232897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acc()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Manage Admin records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425384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stu_chose()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Student panel first screen to choose an option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500594"/>
                  </a:ext>
                </a:extLst>
              </a:tr>
              <a:tr h="338218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book_main()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Book panel first screen to choose an option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956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BBD681A-840A-4A46-BD6A-66081444B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13709"/>
              </p:ext>
            </p:extLst>
          </p:nvPr>
        </p:nvGraphicFramePr>
        <p:xfrm>
          <a:off x="316331" y="1869141"/>
          <a:ext cx="5537620" cy="4438090"/>
        </p:xfrm>
        <a:graphic>
          <a:graphicData uri="http://schemas.openxmlformats.org/drawingml/2006/table">
            <a:tbl>
              <a:tblPr/>
              <a:tblGrid>
                <a:gridCol w="1718383">
                  <a:extLst>
                    <a:ext uri="{9D8B030D-6E8A-4147-A177-3AD203B41FA5}">
                      <a16:colId xmlns:a16="http://schemas.microsoft.com/office/drawing/2014/main" val="3054786653"/>
                    </a:ext>
                  </a:extLst>
                </a:gridCol>
                <a:gridCol w="1722294">
                  <a:extLst>
                    <a:ext uri="{9D8B030D-6E8A-4147-A177-3AD203B41FA5}">
                      <a16:colId xmlns:a16="http://schemas.microsoft.com/office/drawing/2014/main" val="2872110074"/>
                    </a:ext>
                  </a:extLst>
                </a:gridCol>
                <a:gridCol w="2096943">
                  <a:extLst>
                    <a:ext uri="{9D8B030D-6E8A-4147-A177-3AD203B41FA5}">
                      <a16:colId xmlns:a16="http://schemas.microsoft.com/office/drawing/2014/main" val="1787619893"/>
                    </a:ext>
                  </a:extLst>
                </a:gridCol>
              </a:tblGrid>
              <a:tr h="2698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Header file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Library function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99476"/>
                  </a:ext>
                </a:extLst>
              </a:tr>
              <a:tr h="140994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admain.h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acount.h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admreg.h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ad_main()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acc()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admin_register()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These is the header file of the dmin panel.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617569"/>
                  </a:ext>
                </a:extLst>
              </a:tr>
              <a:tr h="1107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STUDENT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student.h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stumain.h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student_login()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stu_chose()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These is the header file of the student panel.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179950"/>
                  </a:ext>
                </a:extLst>
              </a:tr>
              <a:tr h="624675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book.h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book_main()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These is the header file of the book details.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248927"/>
                  </a:ext>
                </a:extLst>
              </a:tr>
              <a:tr h="789039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login.h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admin_ligin()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user_exists()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These is the header file for admin login, check admin, register admin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145518"/>
                  </a:ext>
                </a:extLst>
              </a:tr>
              <a:tr h="236656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0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0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2A33E8-DBCC-4E14-A9FF-285C5D896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311" r="1563"/>
          <a:stretch/>
        </p:blipFill>
        <p:spPr>
          <a:xfrm>
            <a:off x="0" y="0"/>
            <a:ext cx="12192000" cy="679704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A084F0-4C19-49B9-BDCA-56E9B3887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27077"/>
              </p:ext>
            </p:extLst>
          </p:nvPr>
        </p:nvGraphicFramePr>
        <p:xfrm>
          <a:off x="5943600" y="1028700"/>
          <a:ext cx="4640580" cy="982980"/>
        </p:xfrm>
        <a:graphic>
          <a:graphicData uri="http://schemas.openxmlformats.org/drawingml/2006/table">
            <a:tbl>
              <a:tblPr/>
              <a:tblGrid>
                <a:gridCol w="4640580">
                  <a:extLst>
                    <a:ext uri="{9D8B030D-6E8A-4147-A177-3AD203B41FA5}">
                      <a16:colId xmlns:a16="http://schemas.microsoft.com/office/drawing/2014/main" val="791030580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30862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337F73-DD26-4991-85F8-2857169F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648549"/>
              </p:ext>
            </p:extLst>
          </p:nvPr>
        </p:nvGraphicFramePr>
        <p:xfrm>
          <a:off x="5120640" y="2011680"/>
          <a:ext cx="6911340" cy="4785360"/>
        </p:xfrm>
        <a:graphic>
          <a:graphicData uri="http://schemas.openxmlformats.org/drawingml/2006/table">
            <a:tbl>
              <a:tblPr/>
              <a:tblGrid>
                <a:gridCol w="6911340">
                  <a:extLst>
                    <a:ext uri="{9D8B030D-6E8A-4147-A177-3AD203B41FA5}">
                      <a16:colId xmlns:a16="http://schemas.microsoft.com/office/drawing/2014/main" val="2936920502"/>
                    </a:ext>
                  </a:extLst>
                </a:gridCol>
              </a:tblGrid>
              <a:tr h="347472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This is a system for library to use in order to manage their book records like Books information, number of book borrowed, no. of books returned. </a:t>
                      </a:r>
                    </a:p>
                    <a:p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the help of this program, we can store book records, admin information, student information, manage student information and so on.</a:t>
                      </a:r>
                    </a:p>
                    <a:p>
                      <a:endParaRPr 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24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65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C09F3-5A73-4980-98AE-9EFF44E49E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311" r="1563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B4F977-8480-4D09-B45D-32B77A9CC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290709"/>
              </p:ext>
            </p:extLst>
          </p:nvPr>
        </p:nvGraphicFramePr>
        <p:xfrm>
          <a:off x="5683431" y="1001613"/>
          <a:ext cx="4549140" cy="822960"/>
        </p:xfrm>
        <a:graphic>
          <a:graphicData uri="http://schemas.openxmlformats.org/drawingml/2006/table">
            <a:tbl>
              <a:tblPr/>
              <a:tblGrid>
                <a:gridCol w="4549140">
                  <a:extLst>
                    <a:ext uri="{9D8B030D-6E8A-4147-A177-3AD203B41FA5}">
                      <a16:colId xmlns:a16="http://schemas.microsoft.com/office/drawing/2014/main" val="1988680519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REFRENCES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4901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2B47E7-B384-4AB4-9D9A-68782E2E0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82311"/>
              </p:ext>
            </p:extLst>
          </p:nvPr>
        </p:nvGraphicFramePr>
        <p:xfrm>
          <a:off x="4728755" y="1994010"/>
          <a:ext cx="6818811" cy="3365989"/>
        </p:xfrm>
        <a:graphic>
          <a:graphicData uri="http://schemas.openxmlformats.org/drawingml/2006/table">
            <a:tbl>
              <a:tblPr/>
              <a:tblGrid>
                <a:gridCol w="6818811">
                  <a:extLst>
                    <a:ext uri="{9D8B030D-6E8A-4147-A177-3AD203B41FA5}">
                      <a16:colId xmlns:a16="http://schemas.microsoft.com/office/drawing/2014/main" val="4199705578"/>
                    </a:ext>
                  </a:extLst>
                </a:gridCol>
              </a:tblGrid>
              <a:tr h="3365989">
                <a:tc>
                  <a:txBody>
                    <a:bodyPr/>
                    <a:lstStyle/>
                    <a:p>
                      <a:pPr marL="742950" marR="0" indent="-28575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u="sng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https://github.com/RanaBKamal/bitprojecti</a:t>
                      </a:r>
                      <a:endParaRPr lang="en-US" sz="2400" u="sng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marR="0" indent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US" sz="2400" u="sng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42950" indent="-28575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https://aticleworld.com/library-management-system-project-in-c/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190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03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662929-872D-4710-B8DD-C3DFE1AB11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361" r="1643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DCBC2C-83D4-4CF1-8729-D4C1E2E61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151235"/>
              </p:ext>
            </p:extLst>
          </p:nvPr>
        </p:nvGraphicFramePr>
        <p:xfrm>
          <a:off x="2738845" y="4702628"/>
          <a:ext cx="6714309" cy="1240972"/>
        </p:xfrm>
        <a:graphic>
          <a:graphicData uri="http://schemas.openxmlformats.org/drawingml/2006/table">
            <a:tbl>
              <a:tblPr/>
              <a:tblGrid>
                <a:gridCol w="6714309">
                  <a:extLst>
                    <a:ext uri="{9D8B030D-6E8A-4147-A177-3AD203B41FA5}">
                      <a16:colId xmlns:a16="http://schemas.microsoft.com/office/drawing/2014/main" val="3784837808"/>
                    </a:ext>
                  </a:extLst>
                </a:gridCol>
              </a:tblGrid>
              <a:tr h="1240972">
                <a:tc>
                  <a:txBody>
                    <a:bodyPr/>
                    <a:lstStyle/>
                    <a:p>
                      <a:r>
                        <a:rPr lang="en-US" sz="7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THANK YOU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836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4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575</Words>
  <Application>Microsoft Office PowerPoint</Application>
  <PresentationFormat>Widescreen</PresentationFormat>
  <Paragraphs>117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sujan subedi</dc:creator>
  <cp:lastModifiedBy>santosh adhikari</cp:lastModifiedBy>
  <cp:revision>15</cp:revision>
  <dcterms:created xsi:type="dcterms:W3CDTF">2022-03-10T18:11:30Z</dcterms:created>
  <dcterms:modified xsi:type="dcterms:W3CDTF">2022-03-12T02:28:24Z</dcterms:modified>
</cp:coreProperties>
</file>